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lam dutta" initials="jd" lastIdx="1" clrIdx="0">
    <p:extLst>
      <p:ext uri="{19B8F6BF-5375-455C-9EA6-DF929625EA0E}">
        <p15:presenceInfo xmlns:p15="http://schemas.microsoft.com/office/powerpoint/2012/main" userId="6371d42c0975ac3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C67766-6FC1-4033-9C51-E781D8285FA7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71C31-1730-4528-9E20-7219CFE999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692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71C31-1730-4528-9E20-7219CFE999F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444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80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342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29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565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937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564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438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47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08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45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630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6938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08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732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816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2473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92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6E2EE-A537-4CC8-B5F2-98B0602B092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25AC1-3487-412C-A775-FAEF23D929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90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E31E-5ACA-9151-3940-2E521E041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9521" y="624525"/>
            <a:ext cx="6353666" cy="1951349"/>
          </a:xfrm>
        </p:spPr>
        <p:txBody>
          <a:bodyPr>
            <a:noAutofit/>
          </a:bodyPr>
          <a:lstStyle/>
          <a:p>
            <a:pPr lvl="0">
              <a:spcBef>
                <a:spcPts val="1000"/>
              </a:spcBef>
              <a:buClr>
                <a:srgbClr val="0D0D0D"/>
              </a:buClr>
              <a:buSzPts val="6000"/>
            </a:pPr>
            <a:r>
              <a:rPr lang="en-IN" sz="4400" b="1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Particle Physics Event Classification</a:t>
            </a:r>
            <a:endParaRPr lang="en-IN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C8F71-ED13-4EA0-F6A1-39F912254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8120" y="3082565"/>
            <a:ext cx="6212264" cy="247924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In particle physics, accurate event classification is key to understanding fundamental particles. Using features from experimental data, we built a machine learning model to classify events into </a:t>
            </a:r>
            <a:r>
              <a:rPr lang="en-US" b="1" dirty="0"/>
              <a:t>Signal (s)</a:t>
            </a:r>
            <a:r>
              <a:rPr lang="en-US" dirty="0"/>
              <a:t> and </a:t>
            </a:r>
            <a:r>
              <a:rPr lang="en-US" b="1" dirty="0"/>
              <a:t>Background (b)</a:t>
            </a:r>
            <a:r>
              <a:rPr lang="en-US" dirty="0"/>
              <a:t>, helping separate meaningful signals from noise.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33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02037-8A8A-4988-1B24-B56B2A6E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060" y="412260"/>
            <a:ext cx="4911365" cy="865792"/>
          </a:xfrm>
        </p:spPr>
        <p:txBody>
          <a:bodyPr/>
          <a:lstStyle/>
          <a:p>
            <a:r>
              <a:rPr lang="en-IN" dirty="0"/>
              <a:t>DATA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78FB8-E274-BC53-B401-CB3E118F131C}"/>
              </a:ext>
            </a:extLst>
          </p:cNvPr>
          <p:cNvSpPr txBox="1"/>
          <p:nvPr/>
        </p:nvSpPr>
        <p:spPr>
          <a:xfrm>
            <a:off x="1088794" y="1505864"/>
            <a:ext cx="1809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Dataset Size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21B87E20-ADB9-EEAB-CAB8-195CFD460575}"/>
              </a:ext>
            </a:extLst>
          </p:cNvPr>
          <p:cNvSpPr/>
          <p:nvPr/>
        </p:nvSpPr>
        <p:spPr>
          <a:xfrm>
            <a:off x="443058" y="1585411"/>
            <a:ext cx="518097" cy="380444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01386-9D7A-7312-F06D-0B9BF0392A48}"/>
              </a:ext>
            </a:extLst>
          </p:cNvPr>
          <p:cNvSpPr txBox="1"/>
          <p:nvPr/>
        </p:nvSpPr>
        <p:spPr>
          <a:xfrm>
            <a:off x="1088793" y="1935916"/>
            <a:ext cx="6396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2C3249"/>
                </a:solidFill>
                <a:ea typeface="Martel Sans" pitchFamily="34" charset="-122"/>
              </a:rPr>
              <a:t>250001</a:t>
            </a:r>
            <a:r>
              <a:rPr lang="en-US" dirty="0">
                <a:solidFill>
                  <a:srgbClr val="2C3249"/>
                </a:solidFill>
                <a:ea typeface="Martel Sans" pitchFamily="34" charset="-122"/>
                <a:cs typeface="Martel Sans" pitchFamily="34" charset="-120"/>
              </a:rPr>
              <a:t> rows and 33 columns of </a:t>
            </a:r>
            <a:r>
              <a:rPr lang="en-IN" dirty="0">
                <a:solidFill>
                  <a:srgbClr val="2C3249"/>
                </a:solidFill>
                <a:ea typeface="Martel Sans" pitchFamily="34" charset="-122"/>
                <a:sym typeface="Arial"/>
              </a:rPr>
              <a:t>Particle Physics Event Classification </a:t>
            </a:r>
            <a:r>
              <a:rPr lang="en-US" dirty="0">
                <a:solidFill>
                  <a:srgbClr val="2C3249"/>
                </a:solidFill>
                <a:ea typeface="Martel Sans" pitchFamily="34" charset="-122"/>
              </a:rPr>
              <a:t>data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D3809-B8F2-9B3A-8126-1982416EA261}"/>
              </a:ext>
            </a:extLst>
          </p:cNvPr>
          <p:cNvSpPr txBox="1"/>
          <p:nvPr/>
        </p:nvSpPr>
        <p:spPr>
          <a:xfrm>
            <a:off x="1088795" y="2658569"/>
            <a:ext cx="199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Features</a:t>
            </a:r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FF391E2E-EBA0-1124-748C-D1AF91E02340}"/>
              </a:ext>
            </a:extLst>
          </p:cNvPr>
          <p:cNvSpPr/>
          <p:nvPr/>
        </p:nvSpPr>
        <p:spPr>
          <a:xfrm>
            <a:off x="443060" y="2658569"/>
            <a:ext cx="518097" cy="380444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5C4BE-AE8E-9803-C3D9-2B38FA41E574}"/>
              </a:ext>
            </a:extLst>
          </p:cNvPr>
          <p:cNvSpPr txBox="1"/>
          <p:nvPr/>
        </p:nvSpPr>
        <p:spPr>
          <a:xfrm>
            <a:off x="1088794" y="3105834"/>
            <a:ext cx="63960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72D45"/>
                </a:solidFill>
                <a:cs typeface="Kanit Light" pitchFamily="34" charset="-120"/>
              </a:rPr>
              <a:t>Weight,DER_mass_MMC,DER_mass_transverse_met_lep,PRI_tau_pt,DER_mass_vis,DER_met_phi_centrality,DER_pt_ratio_lep_tau,DER_deltar_tau_lep,DER_prodeta_jet_jet,DER_lep_eta_centrality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1B3A5-B705-B21B-5B6A-23CEE5703616}"/>
              </a:ext>
            </a:extLst>
          </p:cNvPr>
          <p:cNvSpPr txBox="1"/>
          <p:nvPr/>
        </p:nvSpPr>
        <p:spPr>
          <a:xfrm>
            <a:off x="1088794" y="4059524"/>
            <a:ext cx="199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Target Variable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7D90C74-7580-49E0-F8EA-699390B26BA1}"/>
              </a:ext>
            </a:extLst>
          </p:cNvPr>
          <p:cNvSpPr/>
          <p:nvPr/>
        </p:nvSpPr>
        <p:spPr>
          <a:xfrm>
            <a:off x="443059" y="4048412"/>
            <a:ext cx="518097" cy="380444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pPr algn="ctr"/>
            <a:r>
              <a:rPr lang="en-IN" b="1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3E8319-66BA-5F89-94B3-F31D0F4E140A}"/>
              </a:ext>
            </a:extLst>
          </p:cNvPr>
          <p:cNvSpPr txBox="1"/>
          <p:nvPr/>
        </p:nvSpPr>
        <p:spPr>
          <a:xfrm>
            <a:off x="1088794" y="4551549"/>
            <a:ext cx="6865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whether a given set of experimental features corresponds to a signal or background event (</a:t>
            </a:r>
            <a:r>
              <a:rPr lang="en-US" dirty="0">
                <a:solidFill>
                  <a:srgbClr val="272D45"/>
                </a:solidFill>
                <a:cs typeface="Kanit Light" pitchFamily="34" charset="-120"/>
              </a:rPr>
              <a:t>yes/no</a:t>
            </a:r>
            <a:r>
              <a:rPr lang="en-US" dirty="0">
                <a:solidFill>
                  <a:srgbClr val="272D45"/>
                </a:solidFill>
                <a:latin typeface="Kanit Light" pitchFamily="34" charset="0"/>
                <a:cs typeface="Kanit Light" pitchFamily="34" charset="-120"/>
              </a:rPr>
              <a:t>)</a:t>
            </a:r>
            <a:endParaRPr lang="en-US" sz="1800" dirty="0">
              <a:solidFill>
                <a:srgbClr val="272D45"/>
              </a:solidFill>
              <a:latin typeface="Kanit Light" pitchFamily="34" charset="0"/>
              <a:cs typeface="Kanit Light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684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5D196-D50A-6EC2-9C55-042BD26CBCDB}"/>
              </a:ext>
            </a:extLst>
          </p:cNvPr>
          <p:cNvSpPr txBox="1"/>
          <p:nvPr/>
        </p:nvSpPr>
        <p:spPr>
          <a:xfrm>
            <a:off x="424206" y="339366"/>
            <a:ext cx="54486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+mj-lt"/>
              </a:rPr>
              <a:t>DATA PREPROCESSING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F464CD-4826-F3F3-8F3C-93920BE43A23}"/>
              </a:ext>
            </a:extLst>
          </p:cNvPr>
          <p:cNvSpPr/>
          <p:nvPr/>
        </p:nvSpPr>
        <p:spPr>
          <a:xfrm>
            <a:off x="636973" y="1637901"/>
            <a:ext cx="414779" cy="445423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IN" dirty="0"/>
              <a:t>1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632599B0-CBAB-193C-BAD0-D39F14CB6BA5}"/>
              </a:ext>
            </a:extLst>
          </p:cNvPr>
          <p:cNvSpPr/>
          <p:nvPr/>
        </p:nvSpPr>
        <p:spPr>
          <a:xfrm flipV="1">
            <a:off x="1051752" y="1847652"/>
            <a:ext cx="597939" cy="45719"/>
          </a:xfrm>
          <a:prstGeom prst="roundRect">
            <a:avLst>
              <a:gd name="adj" fmla="val 331602"/>
            </a:avLst>
          </a:prstGeom>
          <a:solidFill>
            <a:srgbClr val="C5D2CF"/>
          </a:solidFill>
          <a:ln/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25B64FA-342F-A66E-46AA-F4619E2BFF81}"/>
              </a:ext>
            </a:extLst>
          </p:cNvPr>
          <p:cNvSpPr/>
          <p:nvPr/>
        </p:nvSpPr>
        <p:spPr>
          <a:xfrm rot="16200000" flipV="1">
            <a:off x="621649" y="1392329"/>
            <a:ext cx="445425" cy="45719"/>
          </a:xfrm>
          <a:prstGeom prst="roundRect">
            <a:avLst>
              <a:gd name="adj" fmla="val 331602"/>
            </a:avLst>
          </a:prstGeom>
          <a:solidFill>
            <a:srgbClr val="C5D2CF"/>
          </a:solidFill>
          <a:ln/>
        </p:spPr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C1E5A2E-ACB4-29EF-DE30-03FF5863C1AD}"/>
              </a:ext>
            </a:extLst>
          </p:cNvPr>
          <p:cNvSpPr/>
          <p:nvPr/>
        </p:nvSpPr>
        <p:spPr>
          <a:xfrm>
            <a:off x="659830" y="2975302"/>
            <a:ext cx="414779" cy="445423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IN" dirty="0"/>
              <a:t>2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507D504-363E-25E5-41BF-0E2AEE9E69FD}"/>
              </a:ext>
            </a:extLst>
          </p:cNvPr>
          <p:cNvSpPr/>
          <p:nvPr/>
        </p:nvSpPr>
        <p:spPr>
          <a:xfrm>
            <a:off x="648402" y="4634507"/>
            <a:ext cx="414779" cy="445423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IN" dirty="0"/>
              <a:t>3</a:t>
            </a: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DA183C55-3EB5-5D1F-A904-C752F0DE005D}"/>
              </a:ext>
            </a:extLst>
          </p:cNvPr>
          <p:cNvSpPr/>
          <p:nvPr/>
        </p:nvSpPr>
        <p:spPr>
          <a:xfrm rot="16200000" flipV="1">
            <a:off x="397961" y="2506043"/>
            <a:ext cx="892798" cy="45719"/>
          </a:xfrm>
          <a:prstGeom prst="roundRect">
            <a:avLst>
              <a:gd name="adj" fmla="val 331602"/>
            </a:avLst>
          </a:prstGeom>
          <a:solidFill>
            <a:srgbClr val="C5D2CF"/>
          </a:solidFill>
          <a:ln/>
        </p:spPr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6BB5F9FC-CC70-7BCD-E696-8E55051B2881}"/>
              </a:ext>
            </a:extLst>
          </p:cNvPr>
          <p:cNvSpPr/>
          <p:nvPr/>
        </p:nvSpPr>
        <p:spPr>
          <a:xfrm rot="16200000" flipV="1">
            <a:off x="264552" y="4013032"/>
            <a:ext cx="1197231" cy="45719"/>
          </a:xfrm>
          <a:prstGeom prst="roundRect">
            <a:avLst>
              <a:gd name="adj" fmla="val 331602"/>
            </a:avLst>
          </a:prstGeom>
          <a:solidFill>
            <a:srgbClr val="C5D2CF"/>
          </a:solidFill>
          <a:ln/>
        </p:spPr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C91C8586-F1E8-DF0D-2E6E-37A0D85968AF}"/>
              </a:ext>
            </a:extLst>
          </p:cNvPr>
          <p:cNvSpPr/>
          <p:nvPr/>
        </p:nvSpPr>
        <p:spPr>
          <a:xfrm flipV="1">
            <a:off x="1063181" y="3149277"/>
            <a:ext cx="597939" cy="45719"/>
          </a:xfrm>
          <a:prstGeom prst="roundRect">
            <a:avLst>
              <a:gd name="adj" fmla="val 331602"/>
            </a:avLst>
          </a:prstGeom>
          <a:solidFill>
            <a:srgbClr val="C5D2CF"/>
          </a:solidFill>
          <a:ln/>
        </p:spPr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37751D27-DF36-B0F6-B383-69E41E2827FB}"/>
              </a:ext>
            </a:extLst>
          </p:cNvPr>
          <p:cNvSpPr/>
          <p:nvPr/>
        </p:nvSpPr>
        <p:spPr>
          <a:xfrm flipV="1">
            <a:off x="1063181" y="4834358"/>
            <a:ext cx="597939" cy="45719"/>
          </a:xfrm>
          <a:prstGeom prst="roundRect">
            <a:avLst>
              <a:gd name="adj" fmla="val 331602"/>
            </a:avLst>
          </a:prstGeom>
          <a:solidFill>
            <a:srgbClr val="C5D2CF"/>
          </a:solidFill>
          <a:ln/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9194FE-F20A-E0F2-91C4-4F4830866EF3}"/>
              </a:ext>
            </a:extLst>
          </p:cNvPr>
          <p:cNvSpPr txBox="1"/>
          <p:nvPr/>
        </p:nvSpPr>
        <p:spPr>
          <a:xfrm>
            <a:off x="1743959" y="1675946"/>
            <a:ext cx="3167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Handling missing Values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A3369D-A8DD-92E7-818D-27D3DBE8EEF6}"/>
              </a:ext>
            </a:extLst>
          </p:cNvPr>
          <p:cNvSpPr txBox="1"/>
          <p:nvPr/>
        </p:nvSpPr>
        <p:spPr>
          <a:xfrm>
            <a:off x="1800521" y="4672551"/>
            <a:ext cx="2965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Dimensionality reduction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228035-0968-6E21-8A6A-6733028F6A87}"/>
              </a:ext>
            </a:extLst>
          </p:cNvPr>
          <p:cNvSpPr txBox="1"/>
          <p:nvPr/>
        </p:nvSpPr>
        <p:spPr>
          <a:xfrm>
            <a:off x="1819375" y="3010330"/>
            <a:ext cx="3167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Handling Imbalance dataset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77EB7E-EF4E-C939-D3CB-E82B4CB71809}"/>
              </a:ext>
            </a:extLst>
          </p:cNvPr>
          <p:cNvSpPr txBox="1"/>
          <p:nvPr/>
        </p:nvSpPr>
        <p:spPr>
          <a:xfrm>
            <a:off x="1743959" y="2082504"/>
            <a:ext cx="5110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Used mean and median imputation for numerical variable.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2AC414-ACB8-D46D-8B44-E14AE9841562}"/>
              </a:ext>
            </a:extLst>
          </p:cNvPr>
          <p:cNvSpPr txBox="1"/>
          <p:nvPr/>
        </p:nvSpPr>
        <p:spPr>
          <a:xfrm>
            <a:off x="1800521" y="3483539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Handle the imbalance dataset with SMOTE </a:t>
            </a:r>
            <a:r>
              <a:rPr lang="en-IN" dirty="0"/>
              <a:t>(Synthetic Minority Over-sampling Technique)</a:t>
            </a:r>
            <a:r>
              <a:rPr lang="en-US" dirty="0"/>
              <a:t> technique to address class imbalance by generating synthetic samples of the minority class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DD4B6E-0E9E-7016-446F-1A585C280E62}"/>
              </a:ext>
            </a:extLst>
          </p:cNvPr>
          <p:cNvSpPr txBox="1"/>
          <p:nvPr/>
        </p:nvSpPr>
        <p:spPr>
          <a:xfrm>
            <a:off x="1800521" y="507993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reduce dimensionality and remove noise while retaining the most informative features for classification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10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37F7A7-2930-1B79-9B0F-F14A583CACA8}"/>
              </a:ext>
            </a:extLst>
          </p:cNvPr>
          <p:cNvSpPr txBox="1"/>
          <p:nvPr/>
        </p:nvSpPr>
        <p:spPr>
          <a:xfrm>
            <a:off x="471339" y="254524"/>
            <a:ext cx="7843101" cy="823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050"/>
              </a:lnSpc>
            </a:pPr>
            <a:r>
              <a:rPr lang="en-US" sz="4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Exploratory Data Analysis</a:t>
            </a:r>
            <a:endParaRPr lang="en-US" sz="44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C07977F4-F861-C9AD-F96C-213C0685D5AD}"/>
              </a:ext>
            </a:extLst>
          </p:cNvPr>
          <p:cNvSpPr/>
          <p:nvPr/>
        </p:nvSpPr>
        <p:spPr>
          <a:xfrm>
            <a:off x="1025510" y="4183236"/>
            <a:ext cx="281119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Correlation Analysis</a:t>
            </a:r>
            <a:endParaRPr lang="en-US" sz="24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C8C0B2F-FC80-3F9F-90ED-C7669C3C9F30}"/>
              </a:ext>
            </a:extLst>
          </p:cNvPr>
          <p:cNvSpPr/>
          <p:nvPr/>
        </p:nvSpPr>
        <p:spPr>
          <a:xfrm>
            <a:off x="6515596" y="4183236"/>
            <a:ext cx="3442957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IN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</a:rPr>
              <a:t>histogram</a:t>
            </a:r>
            <a:r>
              <a:rPr lang="en-IN" dirty="0"/>
              <a:t> </a:t>
            </a:r>
            <a:r>
              <a:rPr lang="en-IN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</a:rPr>
              <a:t> plots</a:t>
            </a:r>
            <a:endParaRPr lang="en-US" sz="2400" dirty="0">
              <a:solidFill>
                <a:srgbClr val="2C3249"/>
              </a:solidFill>
              <a:latin typeface="Kanit Light" pitchFamily="34" charset="0"/>
              <a:ea typeface="Kanit Light" pitchFamily="34" charset="-122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6BCAA3BA-C007-ACD7-750B-7DE1E71B1161}"/>
              </a:ext>
            </a:extLst>
          </p:cNvPr>
          <p:cNvSpPr/>
          <p:nvPr/>
        </p:nvSpPr>
        <p:spPr>
          <a:xfrm>
            <a:off x="931243" y="4721383"/>
            <a:ext cx="470193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000" dirty="0"/>
              <a:t>Heatmap revealed relationships between variables, guiding feature selection</a:t>
            </a:r>
            <a:r>
              <a:rPr lang="en-US" sz="19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9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D04D2F3B-35F3-E478-8969-CB8B4320BF6A}"/>
              </a:ext>
            </a:extLst>
          </p:cNvPr>
          <p:cNvSpPr/>
          <p:nvPr/>
        </p:nvSpPr>
        <p:spPr>
          <a:xfrm>
            <a:off x="6515596" y="4568999"/>
            <a:ext cx="4850494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2000" dirty="0"/>
              <a:t>To visualize how each feature contributes to separating the signal from the background.</a:t>
            </a:r>
            <a:endParaRPr lang="en-US" sz="1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D412D9-C7DE-E18A-97AF-F50F9B7DE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10" y="1366219"/>
            <a:ext cx="3989549" cy="25146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0CE9BC-901B-7BDB-E52E-A29878343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596" y="1176610"/>
            <a:ext cx="3674780" cy="289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50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254BD7-D188-BF45-D9FE-26926BB87902}"/>
              </a:ext>
            </a:extLst>
          </p:cNvPr>
          <p:cNvSpPr/>
          <p:nvPr/>
        </p:nvSpPr>
        <p:spPr>
          <a:xfrm>
            <a:off x="873869" y="994525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Selection</a:t>
            </a:r>
            <a:endParaRPr lang="en-US" sz="4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F33898-FB0F-C190-4A8E-3D207CFB12F9}"/>
              </a:ext>
            </a:extLst>
          </p:cNvPr>
          <p:cNvSpPr/>
          <p:nvPr/>
        </p:nvSpPr>
        <p:spPr>
          <a:xfrm>
            <a:off x="873869" y="243231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Baseline Models</a:t>
            </a:r>
            <a:endParaRPr lang="en-US" sz="2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82F5876-AA01-9E1C-0AE2-B7CC1FB195CF}"/>
              </a:ext>
            </a:extLst>
          </p:cNvPr>
          <p:cNvSpPr/>
          <p:nvPr/>
        </p:nvSpPr>
        <p:spPr>
          <a:xfrm>
            <a:off x="4743430" y="243231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Tree-based Models</a:t>
            </a:r>
            <a:endParaRPr lang="en-US" sz="24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2E9CD7E-F4F3-6881-D6D6-333BB6C02786}"/>
              </a:ext>
            </a:extLst>
          </p:cNvPr>
          <p:cNvSpPr/>
          <p:nvPr/>
        </p:nvSpPr>
        <p:spPr>
          <a:xfrm>
            <a:off x="9105900" y="243231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Advanced Models</a:t>
            </a:r>
            <a:endParaRPr lang="en-US" sz="2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7AA0EBF-468E-3955-E40D-8D4E21BB99DE}"/>
              </a:ext>
            </a:extLst>
          </p:cNvPr>
          <p:cNvSpPr/>
          <p:nvPr/>
        </p:nvSpPr>
        <p:spPr>
          <a:xfrm>
            <a:off x="467508" y="3045429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Logistic Regression for baseline performance.</a:t>
            </a:r>
            <a:endParaRPr lang="en-US" sz="1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1F94B41-14BC-619E-638B-00EBE98747CE}"/>
              </a:ext>
            </a:extLst>
          </p:cNvPr>
          <p:cNvSpPr/>
          <p:nvPr/>
        </p:nvSpPr>
        <p:spPr>
          <a:xfrm>
            <a:off x="4571417" y="3045429"/>
            <a:ext cx="389882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1900" dirty="0">
                <a:latin typeface="Martel Sans" pitchFamily="34" charset="0"/>
                <a:ea typeface="Martel Sans" pitchFamily="34" charset="-122"/>
              </a:rPr>
              <a:t>Random Forest for capturing non-linear relationships.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6F771A-D739-A7E5-453E-FA41663E5047}"/>
              </a:ext>
            </a:extLst>
          </p:cNvPr>
          <p:cNvSpPr/>
          <p:nvPr/>
        </p:nvSpPr>
        <p:spPr>
          <a:xfrm>
            <a:off x="8785780" y="3045429"/>
            <a:ext cx="3406219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00"/>
              </a:lnSpc>
            </a:pPr>
            <a:r>
              <a:rPr lang="en-US" sz="1900" dirty="0" err="1">
                <a:latin typeface="Martel Sans" pitchFamily="34" charset="0"/>
                <a:ea typeface="Martel Sans" pitchFamily="34" charset="-122"/>
              </a:rPr>
              <a:t>XGBoost</a:t>
            </a:r>
            <a:r>
              <a:rPr lang="en-US" sz="1900" dirty="0">
                <a:latin typeface="Martel Sans" pitchFamily="34" charset="0"/>
                <a:ea typeface="Martel Sans" pitchFamily="34" charset="-122"/>
              </a:rPr>
              <a:t> for potentially higher accuracy, handles missing data, flexible with feature types</a:t>
            </a:r>
          </a:p>
        </p:txBody>
      </p:sp>
    </p:spTree>
    <p:extLst>
      <p:ext uri="{BB962C8B-B14F-4D97-AF65-F5344CB8AC3E}">
        <p14:creationId xmlns:p14="http://schemas.microsoft.com/office/powerpoint/2010/main" val="4229767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5B2439-1346-D58A-1B25-4AA342B5B546}"/>
              </a:ext>
            </a:extLst>
          </p:cNvPr>
          <p:cNvSpPr txBox="1"/>
          <p:nvPr/>
        </p:nvSpPr>
        <p:spPr>
          <a:xfrm>
            <a:off x="577391" y="83411"/>
            <a:ext cx="7473099" cy="797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605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Training and Evaluation</a:t>
            </a:r>
            <a:endParaRPr lang="en-US" sz="3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8B42F0A-97B6-0468-CF12-889E7F091202}"/>
              </a:ext>
            </a:extLst>
          </p:cNvPr>
          <p:cNvSpPr/>
          <p:nvPr/>
        </p:nvSpPr>
        <p:spPr>
          <a:xfrm flipV="1">
            <a:off x="312654" y="3811850"/>
            <a:ext cx="11566689" cy="45719"/>
          </a:xfrm>
          <a:prstGeom prst="roundRect">
            <a:avLst>
              <a:gd name="adj" fmla="val 340200"/>
            </a:avLst>
          </a:prstGeom>
          <a:solidFill>
            <a:srgbClr val="C5D2CF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3DD1631-B036-EA89-B57A-6B0C6F074178}"/>
              </a:ext>
            </a:extLst>
          </p:cNvPr>
          <p:cNvSpPr/>
          <p:nvPr/>
        </p:nvSpPr>
        <p:spPr>
          <a:xfrm>
            <a:off x="1512997" y="3491772"/>
            <a:ext cx="518475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pPr algn="ctr"/>
            <a:r>
              <a:rPr lang="en-IN" sz="2000" b="1" dirty="0"/>
              <a:t>1</a:t>
            </a: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F50A5ED-8B60-6A43-2FC4-CD441B459880}"/>
              </a:ext>
            </a:extLst>
          </p:cNvPr>
          <p:cNvSpPr/>
          <p:nvPr/>
        </p:nvSpPr>
        <p:spPr>
          <a:xfrm>
            <a:off x="5592763" y="3615746"/>
            <a:ext cx="518475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pPr algn="ctr"/>
            <a:r>
              <a:rPr lang="en-IN" sz="2000" b="1" dirty="0"/>
              <a:t>2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AF3E10D-51A5-4CB9-DB27-73FBFEB9FA97}"/>
              </a:ext>
            </a:extLst>
          </p:cNvPr>
          <p:cNvSpPr/>
          <p:nvPr/>
        </p:nvSpPr>
        <p:spPr>
          <a:xfrm>
            <a:off x="9490093" y="3491773"/>
            <a:ext cx="518475" cy="555427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pPr algn="ctr"/>
            <a:r>
              <a:rPr lang="en-IN" sz="2000" b="1" dirty="0"/>
              <a:t>3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E2C8CCF-3A97-603C-B21E-B8E483AF2181}"/>
              </a:ext>
            </a:extLst>
          </p:cNvPr>
          <p:cNvSpPr/>
          <p:nvPr/>
        </p:nvSpPr>
        <p:spPr>
          <a:xfrm>
            <a:off x="1741755" y="2627736"/>
            <a:ext cx="30480" cy="864037"/>
          </a:xfrm>
          <a:prstGeom prst="roundRect">
            <a:avLst>
              <a:gd name="adj" fmla="val 340200"/>
            </a:avLst>
          </a:prstGeom>
          <a:solidFill>
            <a:srgbClr val="C5D2CF"/>
          </a:solidFill>
          <a:ln/>
        </p:spPr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C57410F-55BA-0140-18D9-558272E96883}"/>
              </a:ext>
            </a:extLst>
          </p:cNvPr>
          <p:cNvSpPr/>
          <p:nvPr/>
        </p:nvSpPr>
        <p:spPr>
          <a:xfrm flipH="1">
            <a:off x="5854670" y="4131390"/>
            <a:ext cx="45719" cy="808869"/>
          </a:xfrm>
          <a:prstGeom prst="roundRect">
            <a:avLst>
              <a:gd name="adj" fmla="val 340200"/>
            </a:avLst>
          </a:prstGeom>
          <a:solidFill>
            <a:srgbClr val="C5D2CF"/>
          </a:solidFill>
          <a:ln/>
        </p:spPr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EECEF2F5-9A72-917A-2F1E-707FD2C1F02C}"/>
              </a:ext>
            </a:extLst>
          </p:cNvPr>
          <p:cNvSpPr/>
          <p:nvPr/>
        </p:nvSpPr>
        <p:spPr>
          <a:xfrm>
            <a:off x="9718091" y="2645216"/>
            <a:ext cx="30480" cy="864037"/>
          </a:xfrm>
          <a:prstGeom prst="roundRect">
            <a:avLst>
              <a:gd name="adj" fmla="val 340200"/>
            </a:avLst>
          </a:prstGeom>
          <a:solidFill>
            <a:srgbClr val="C5D2CF"/>
          </a:solidFill>
          <a:ln/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059EB44-A9BE-86D5-4EE1-A5116E57EE2C}"/>
              </a:ext>
            </a:extLst>
          </p:cNvPr>
          <p:cNvSpPr/>
          <p:nvPr/>
        </p:nvSpPr>
        <p:spPr>
          <a:xfrm>
            <a:off x="577391" y="1422501"/>
            <a:ext cx="224923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Splitting</a:t>
            </a:r>
            <a:endParaRPr lang="en-US" sz="24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29EB608-B3AF-62B3-7AED-E57B39D0E929}"/>
              </a:ext>
            </a:extLst>
          </p:cNvPr>
          <p:cNvSpPr/>
          <p:nvPr/>
        </p:nvSpPr>
        <p:spPr>
          <a:xfrm>
            <a:off x="4699104" y="4931446"/>
            <a:ext cx="258561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Training</a:t>
            </a:r>
            <a:endParaRPr lang="en-US" sz="24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E2F2CC85-0E0D-6ED8-E12B-BBD538F6BCBE}"/>
              </a:ext>
            </a:extLst>
          </p:cNvPr>
          <p:cNvSpPr/>
          <p:nvPr/>
        </p:nvSpPr>
        <p:spPr>
          <a:xfrm>
            <a:off x="8205521" y="144618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Performance Metrics</a:t>
            </a:r>
            <a:endParaRPr lang="en-US" sz="24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C996EF95-FD42-9A02-C0DB-CA86435C48A4}"/>
              </a:ext>
            </a:extLst>
          </p:cNvPr>
          <p:cNvSpPr/>
          <p:nvPr/>
        </p:nvSpPr>
        <p:spPr>
          <a:xfrm>
            <a:off x="577391" y="1853196"/>
            <a:ext cx="5518609" cy="58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000" dirty="0"/>
              <a:t>80% training, 20% testing split for model evaluation.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713DD2E-D0B7-81BA-0754-EE508D09009E}"/>
              </a:ext>
            </a:extLst>
          </p:cNvPr>
          <p:cNvSpPr/>
          <p:nvPr/>
        </p:nvSpPr>
        <p:spPr>
          <a:xfrm>
            <a:off x="6573002" y="1858784"/>
            <a:ext cx="550053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2000" dirty="0"/>
              <a:t>Evaluated models using Precision, Recall, F1-Score and ROC-AUC Score.</a:t>
            </a: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24BF37E4-9E77-6CFE-42EC-BB5748D87558}"/>
              </a:ext>
            </a:extLst>
          </p:cNvPr>
          <p:cNvSpPr/>
          <p:nvPr/>
        </p:nvSpPr>
        <p:spPr>
          <a:xfrm>
            <a:off x="3444873" y="5334140"/>
            <a:ext cx="5662835" cy="701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100"/>
              </a:lnSpc>
            </a:pPr>
            <a:r>
              <a:rPr lang="en-IN" sz="2000" dirty="0"/>
              <a:t>Logistic Regression, Random Forest, </a:t>
            </a:r>
            <a:r>
              <a:rPr lang="en-IN" sz="2000" dirty="0" err="1"/>
              <a:t>XGBoost</a:t>
            </a:r>
            <a:r>
              <a:rPr lang="en-IN" sz="2000" dirty="0"/>
              <a:t> </a:t>
            </a:r>
            <a:r>
              <a:rPr lang="en-US" sz="2000" dirty="0"/>
              <a:t>were utilized as classification models.</a:t>
            </a:r>
            <a:endParaRPr lang="en-IN" sz="2000" dirty="0"/>
          </a:p>
          <a:p>
            <a:pPr marL="0" indent="0" algn="ctr">
              <a:lnSpc>
                <a:spcPts val="3100"/>
              </a:lnSpc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018632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65FC5D-012E-68AB-99D8-F3DCE63C7DD9}"/>
              </a:ext>
            </a:extLst>
          </p:cNvPr>
          <p:cNvSpPr/>
          <p:nvPr/>
        </p:nvSpPr>
        <p:spPr>
          <a:xfrm>
            <a:off x="826330" y="3610466"/>
            <a:ext cx="9703410" cy="59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050"/>
              </a:lnSpc>
              <a:buNone/>
            </a:pPr>
            <a:r>
              <a:rPr lang="en-US" sz="4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Model Performance Comparison</a:t>
            </a:r>
            <a:endParaRPr lang="en-US" sz="48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750E7D3-7AFA-5DBD-DC04-4885288273D1}"/>
              </a:ext>
            </a:extLst>
          </p:cNvPr>
          <p:cNvSpPr/>
          <p:nvPr/>
        </p:nvSpPr>
        <p:spPr>
          <a:xfrm>
            <a:off x="1074214" y="4426326"/>
            <a:ext cx="4016260" cy="2243138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9967A985-9CC1-50B7-C131-0E10FAFFC21B}"/>
              </a:ext>
            </a:extLst>
          </p:cNvPr>
          <p:cNvSpPr/>
          <p:nvPr/>
        </p:nvSpPr>
        <p:spPr>
          <a:xfrm>
            <a:off x="6844155" y="4426326"/>
            <a:ext cx="3821145" cy="2243138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61213-911D-6244-6796-5B3AB701B0C4}"/>
              </a:ext>
            </a:extLst>
          </p:cNvPr>
          <p:cNvSpPr txBox="1"/>
          <p:nvPr/>
        </p:nvSpPr>
        <p:spPr>
          <a:xfrm>
            <a:off x="1526700" y="5086230"/>
            <a:ext cx="31908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Random Forest Classifier and </a:t>
            </a:r>
            <a:r>
              <a:rPr lang="en-IN" dirty="0" err="1">
                <a:solidFill>
                  <a:schemeClr val="bg1"/>
                </a:solidFill>
              </a:rPr>
              <a:t>XGBoost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achieved highest accuracy rate is 100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25552-5FFF-FF30-F857-3379950AC755}"/>
              </a:ext>
            </a:extLst>
          </p:cNvPr>
          <p:cNvSpPr txBox="1"/>
          <p:nvPr/>
        </p:nvSpPr>
        <p:spPr>
          <a:xfrm>
            <a:off x="1329106" y="4546840"/>
            <a:ext cx="276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Kanit Light" panose="020B0604020202020204" charset="-34"/>
                <a:cs typeface="Kanit Light" panose="020B0604020202020204" charset="-34"/>
              </a:rPr>
              <a:t>      </a:t>
            </a:r>
            <a:r>
              <a:rPr lang="en-IN" sz="2000" b="1" dirty="0">
                <a:solidFill>
                  <a:schemeClr val="bg1"/>
                </a:solidFill>
                <a:cs typeface="Kanit Light" panose="020B0604020202020204" charset="-34"/>
              </a:rPr>
              <a:t>Best</a:t>
            </a:r>
            <a:r>
              <a:rPr lang="en-IN" sz="2000" b="1" dirty="0">
                <a:solidFill>
                  <a:schemeClr val="bg1"/>
                </a:solidFill>
                <a:latin typeface="Kanit Light" panose="020B0604020202020204" charset="-34"/>
                <a:cs typeface="Kanit Light" panose="020B0604020202020204" charset="-34"/>
              </a:rPr>
              <a:t> </a:t>
            </a:r>
            <a:r>
              <a:rPr lang="en-IN" sz="2000" b="1" dirty="0">
                <a:solidFill>
                  <a:schemeClr val="bg1"/>
                </a:solidFill>
                <a:cs typeface="Kanit Light" panose="020B0604020202020204" charset="-34"/>
              </a:rPr>
              <a:t>Performer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5EF049-F2E9-3373-5F9E-79CB278B2A98}"/>
              </a:ext>
            </a:extLst>
          </p:cNvPr>
          <p:cNvSpPr txBox="1"/>
          <p:nvPr/>
        </p:nvSpPr>
        <p:spPr>
          <a:xfrm>
            <a:off x="7139036" y="4602390"/>
            <a:ext cx="2762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  <a:cs typeface="Kanit Light" panose="020B0604020202020204" charset="-34"/>
              </a:rPr>
              <a:t>Baseline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AC8165-680E-E115-3A5D-C781C03CA634}"/>
              </a:ext>
            </a:extLst>
          </p:cNvPr>
          <p:cNvSpPr txBox="1"/>
          <p:nvPr/>
        </p:nvSpPr>
        <p:spPr>
          <a:xfrm>
            <a:off x="7139036" y="5178564"/>
            <a:ext cx="3095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Logistic Regression achieved an accuracy of approximately 0.94.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534ADE-0C18-270F-C40C-C2E1C52A4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038" y="229722"/>
            <a:ext cx="9066623" cy="338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54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78A7B3D-F9B3-DEB4-FEB7-38A2865951FF}"/>
              </a:ext>
            </a:extLst>
          </p:cNvPr>
          <p:cNvSpPr/>
          <p:nvPr/>
        </p:nvSpPr>
        <p:spPr>
          <a:xfrm>
            <a:off x="347424" y="384333"/>
            <a:ext cx="4414004" cy="551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300"/>
              </a:lnSpc>
              <a:buNone/>
            </a:pPr>
            <a:r>
              <a:rPr lang="en-US" sz="3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Feature Importance</a:t>
            </a:r>
            <a:endParaRPr lang="en-US" sz="3450" dirty="0"/>
          </a:p>
        </p:txBody>
      </p:sp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72FE7FBD-644E-ACDD-1C12-12A6DF2A6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24" y="1181695"/>
            <a:ext cx="882729" cy="1412438"/>
          </a:xfrm>
          <a:prstGeom prst="rect">
            <a:avLst/>
          </a:prstGeom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B2D1DED5-C5C5-BD68-BB39-EB1FD7D9A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23" y="2594133"/>
            <a:ext cx="882729" cy="1412438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7E7FF09D-36BF-D8C7-E6EB-AD0FB4597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22" y="4006571"/>
            <a:ext cx="882729" cy="1412438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11CE891A-536E-B579-F144-F29FCCEC0545}"/>
              </a:ext>
            </a:extLst>
          </p:cNvPr>
          <p:cNvSpPr/>
          <p:nvPr/>
        </p:nvSpPr>
        <p:spPr>
          <a:xfrm>
            <a:off x="1628298" y="3235552"/>
            <a:ext cx="4409030" cy="551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Second important feature “</a:t>
            </a:r>
            <a:r>
              <a:rPr lang="en-US" altLang="en-US" sz="135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DER_mass_MMC</a:t>
            </a:r>
            <a:r>
              <a:rPr lang="en-US" alt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” 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at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8%</a:t>
            </a:r>
            <a:endParaRPr lang="en-US" sz="135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B9C563D0-E6AB-6CD6-94CD-19FF32F98FD0}"/>
              </a:ext>
            </a:extLst>
          </p:cNvPr>
          <p:cNvSpPr/>
          <p:nvPr/>
        </p:nvSpPr>
        <p:spPr>
          <a:xfrm>
            <a:off x="1628300" y="1503639"/>
            <a:ext cx="220694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/>
              <a:t>Weight</a:t>
            </a: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4E3924BF-85E4-19E4-3D8E-0A1AEE04F1F8}"/>
              </a:ext>
            </a:extLst>
          </p:cNvPr>
          <p:cNvSpPr/>
          <p:nvPr/>
        </p:nvSpPr>
        <p:spPr>
          <a:xfrm>
            <a:off x="1780699" y="2001349"/>
            <a:ext cx="4724876" cy="386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Most 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important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feature with 71% importance.</a:t>
            </a:r>
            <a:endParaRPr lang="en-US" sz="13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BCA55-522D-2FD7-2DB9-27CF326DE721}"/>
              </a:ext>
            </a:extLst>
          </p:cNvPr>
          <p:cNvSpPr txBox="1"/>
          <p:nvPr/>
        </p:nvSpPr>
        <p:spPr>
          <a:xfrm>
            <a:off x="1533525" y="4499310"/>
            <a:ext cx="3802046" cy="351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US" alt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“</a:t>
            </a:r>
            <a:r>
              <a:rPr lang="en-US" altLang="en-US" sz="1400" dirty="0" err="1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DER_mass_transverse_met_lep</a:t>
            </a:r>
            <a:r>
              <a:rPr lang="en-US" alt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 “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</a:rPr>
              <a:t> </a:t>
            </a: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contributed 5%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FFE639-0D0B-2824-0F2D-B6F182C04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475" y="935950"/>
            <a:ext cx="5256701" cy="4201657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83DF795A-896F-D2DA-84EB-3B34768AF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9523" y="2639990"/>
            <a:ext cx="2350557" cy="267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altLang="en-US" sz="1700" dirty="0" err="1"/>
              <a:t>DER_mass_MMC</a:t>
            </a:r>
            <a:r>
              <a:rPr lang="en-US" altLang="en-US" sz="1700" dirty="0"/>
              <a:t> 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C31B74D9-7DC4-BD76-F312-7433E74B7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4048232"/>
            <a:ext cx="2840512" cy="267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50"/>
              </a:lnSpc>
            </a:pPr>
            <a:r>
              <a:rPr lang="en-US" altLang="en-US" sz="1700" dirty="0" err="1"/>
              <a:t>DER_mass_transverse_met_lep</a:t>
            </a:r>
            <a:r>
              <a:rPr lang="en-US" altLang="en-US" sz="17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8816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E93E4-2C17-5142-86B5-E525558360BE}"/>
              </a:ext>
            </a:extLst>
          </p:cNvPr>
          <p:cNvSpPr txBox="1"/>
          <p:nvPr/>
        </p:nvSpPr>
        <p:spPr>
          <a:xfrm>
            <a:off x="2778442" y="2158395"/>
            <a:ext cx="69208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600" dirty="0">
                <a:latin typeface="Algerian" panose="04020705040A02060702" pitchFamily="82" charset="0"/>
              </a:rPr>
              <a:t>THANK YOU</a:t>
            </a:r>
            <a:endParaRPr lang="en-IN" sz="96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8921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745</TotalTime>
  <Words>422</Words>
  <Application>Microsoft Office PowerPoint</Application>
  <PresentationFormat>Widescreen</PresentationFormat>
  <Paragraphs>58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Arial</vt:lpstr>
      <vt:lpstr>Calibri</vt:lpstr>
      <vt:lpstr>Kanit Light</vt:lpstr>
      <vt:lpstr>Martel Sans</vt:lpstr>
      <vt:lpstr>Tw Cen MT</vt:lpstr>
      <vt:lpstr>Circuit</vt:lpstr>
      <vt:lpstr>Particle Physics Event Classification</vt:lpstr>
      <vt:lpstr>DATA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jilam dutta</dc:creator>
  <cp:lastModifiedBy>jilam dutta</cp:lastModifiedBy>
  <cp:revision>25</cp:revision>
  <dcterms:created xsi:type="dcterms:W3CDTF">2025-06-03T16:21:40Z</dcterms:created>
  <dcterms:modified xsi:type="dcterms:W3CDTF">2025-09-23T04:12:23Z</dcterms:modified>
</cp:coreProperties>
</file>